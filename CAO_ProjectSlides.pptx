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4"/>
  </p:notesMasterIdLst>
  <p:sldIdLst>
    <p:sldId id="256" r:id="rId2"/>
    <p:sldId id="274" r:id="rId3"/>
    <p:sldId id="259" r:id="rId4"/>
    <p:sldId id="276" r:id="rId5"/>
    <p:sldId id="260" r:id="rId6"/>
    <p:sldId id="265" r:id="rId7"/>
    <p:sldId id="277" r:id="rId8"/>
    <p:sldId id="266" r:id="rId9"/>
    <p:sldId id="278" r:id="rId10"/>
    <p:sldId id="279" r:id="rId11"/>
    <p:sldId id="280" r:id="rId12"/>
    <p:sldId id="273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0258945-965E-F029-2DD6-849669876678}" v="20" dt="2025-12-24T06:30:45.434"/>
    <p1510:client id="{443A5251-2914-4E2A-B5BA-A31AD4FE75D4}" v="1890" dt="2025-12-24T07:49:01.33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989" autoAdjust="0"/>
    <p:restoredTop sz="94660"/>
  </p:normalViewPr>
  <p:slideViewPr>
    <p:cSldViewPr snapToGrid="0">
      <p:cViewPr varScale="1">
        <p:scale>
          <a:sx n="54" d="100"/>
          <a:sy n="54" d="100"/>
        </p:scale>
        <p:origin x="48" y="3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ushaf Raza" userId="a673db03edc973b3" providerId="LiveId" clId="{1E6B3395-E433-4179-A0E8-A3ABD182890D}"/>
    <pc:docChg chg="undo custSel modSld">
      <pc:chgData name="Mushaf Raza" userId="a673db03edc973b3" providerId="LiveId" clId="{1E6B3395-E433-4179-A0E8-A3ABD182890D}" dt="2025-12-24T09:58:11.406" v="164" actId="14100"/>
      <pc:docMkLst>
        <pc:docMk/>
      </pc:docMkLst>
      <pc:sldChg chg="modSp mod">
        <pc:chgData name="Mushaf Raza" userId="a673db03edc973b3" providerId="LiveId" clId="{1E6B3395-E433-4179-A0E8-A3ABD182890D}" dt="2025-12-24T08:19:06.699" v="99" actId="20577"/>
        <pc:sldMkLst>
          <pc:docMk/>
          <pc:sldMk cId="3870884922" sldId="256"/>
        </pc:sldMkLst>
        <pc:spChg chg="mod">
          <ac:chgData name="Mushaf Raza" userId="a673db03edc973b3" providerId="LiveId" clId="{1E6B3395-E433-4179-A0E8-A3ABD182890D}" dt="2025-12-24T08:19:06.699" v="99" actId="20577"/>
          <ac:spMkLst>
            <pc:docMk/>
            <pc:sldMk cId="3870884922" sldId="256"/>
            <ac:spMk id="3" creationId="{20702C03-06FF-89B3-D148-542F560AFABE}"/>
          </ac:spMkLst>
        </pc:spChg>
      </pc:sldChg>
      <pc:sldChg chg="modSp mod">
        <pc:chgData name="Mushaf Raza" userId="a673db03edc973b3" providerId="LiveId" clId="{1E6B3395-E433-4179-A0E8-A3ABD182890D}" dt="2025-12-24T09:14:29.196" v="144" actId="1076"/>
        <pc:sldMkLst>
          <pc:docMk/>
          <pc:sldMk cId="1242051891" sldId="266"/>
        </pc:sldMkLst>
        <pc:spChg chg="mod">
          <ac:chgData name="Mushaf Raza" userId="a673db03edc973b3" providerId="LiveId" clId="{1E6B3395-E433-4179-A0E8-A3ABD182890D}" dt="2025-12-24T09:01:34.977" v="142" actId="20577"/>
          <ac:spMkLst>
            <pc:docMk/>
            <pc:sldMk cId="1242051891" sldId="266"/>
            <ac:spMk id="2" creationId="{9BFEAD8E-BD9F-0D10-74BD-EC673081AF23}"/>
          </ac:spMkLst>
        </pc:spChg>
        <pc:spChg chg="mod">
          <ac:chgData name="Mushaf Raza" userId="a673db03edc973b3" providerId="LiveId" clId="{1E6B3395-E433-4179-A0E8-A3ABD182890D}" dt="2025-12-24T09:14:29.196" v="144" actId="1076"/>
          <ac:spMkLst>
            <pc:docMk/>
            <pc:sldMk cId="1242051891" sldId="266"/>
            <ac:spMk id="3" creationId="{90ECEB57-DFFF-7B0D-3415-C9382BA69353}"/>
          </ac:spMkLst>
        </pc:spChg>
      </pc:sldChg>
      <pc:sldChg chg="modSp mod">
        <pc:chgData name="Mushaf Raza" userId="a673db03edc973b3" providerId="LiveId" clId="{1E6B3395-E433-4179-A0E8-A3ABD182890D}" dt="2025-12-24T09:32:49.280" v="148" actId="1076"/>
        <pc:sldMkLst>
          <pc:docMk/>
          <pc:sldMk cId="774786675" sldId="274"/>
        </pc:sldMkLst>
        <pc:picChg chg="mod">
          <ac:chgData name="Mushaf Raza" userId="a673db03edc973b3" providerId="LiveId" clId="{1E6B3395-E433-4179-A0E8-A3ABD182890D}" dt="2025-12-24T09:32:49.280" v="148" actId="1076"/>
          <ac:picMkLst>
            <pc:docMk/>
            <pc:sldMk cId="774786675" sldId="274"/>
            <ac:picMk id="8" creationId="{84A3E49E-B3C0-F39A-FFB7-07F074B15BF9}"/>
          </ac:picMkLst>
        </pc:picChg>
      </pc:sldChg>
      <pc:sldChg chg="addSp delSp modSp mod">
        <pc:chgData name="Mushaf Raza" userId="a673db03edc973b3" providerId="LiveId" clId="{1E6B3395-E433-4179-A0E8-A3ABD182890D}" dt="2025-12-24T09:58:04.469" v="162" actId="14100"/>
        <pc:sldMkLst>
          <pc:docMk/>
          <pc:sldMk cId="3904361589" sldId="278"/>
        </pc:sldMkLst>
        <pc:picChg chg="del mod">
          <ac:chgData name="Mushaf Raza" userId="a673db03edc973b3" providerId="LiveId" clId="{1E6B3395-E433-4179-A0E8-A3ABD182890D}" dt="2025-12-24T09:57:19.161" v="156" actId="478"/>
          <ac:picMkLst>
            <pc:docMk/>
            <pc:sldMk cId="3904361589" sldId="278"/>
            <ac:picMk id="5" creationId="{FCF498B2-7CCE-21A2-BA4D-F361F1962218}"/>
          </ac:picMkLst>
        </pc:picChg>
        <pc:picChg chg="add mod">
          <ac:chgData name="Mushaf Raza" userId="a673db03edc973b3" providerId="LiveId" clId="{1E6B3395-E433-4179-A0E8-A3ABD182890D}" dt="2025-12-24T09:58:04.469" v="162" actId="14100"/>
          <ac:picMkLst>
            <pc:docMk/>
            <pc:sldMk cId="3904361589" sldId="278"/>
            <ac:picMk id="6" creationId="{4CDE14B3-B6C0-A59C-1555-FD29F8BC2F1E}"/>
          </ac:picMkLst>
        </pc:picChg>
      </pc:sldChg>
      <pc:sldChg chg="addSp delSp modSp mod">
        <pc:chgData name="Mushaf Raza" userId="a673db03edc973b3" providerId="LiveId" clId="{1E6B3395-E433-4179-A0E8-A3ABD182890D}" dt="2025-12-24T09:58:11.406" v="164" actId="14100"/>
        <pc:sldMkLst>
          <pc:docMk/>
          <pc:sldMk cId="4146843432" sldId="279"/>
        </pc:sldMkLst>
        <pc:picChg chg="add mod">
          <ac:chgData name="Mushaf Raza" userId="a673db03edc973b3" providerId="LiveId" clId="{1E6B3395-E433-4179-A0E8-A3ABD182890D}" dt="2025-12-24T09:58:11.406" v="164" actId="14100"/>
          <ac:picMkLst>
            <pc:docMk/>
            <pc:sldMk cId="4146843432" sldId="279"/>
            <ac:picMk id="5" creationId="{B9EF7F73-9433-DF41-1528-9CD548B888AC}"/>
          </ac:picMkLst>
        </pc:picChg>
        <pc:picChg chg="del mod">
          <ac:chgData name="Mushaf Raza" userId="a673db03edc973b3" providerId="LiveId" clId="{1E6B3395-E433-4179-A0E8-A3ABD182890D}" dt="2025-12-24T09:57:02.392" v="149" actId="478"/>
          <ac:picMkLst>
            <pc:docMk/>
            <pc:sldMk cId="4146843432" sldId="279"/>
            <ac:picMk id="6" creationId="{C30FFD4E-0571-9C79-D5F9-C2B5B201BAD3}"/>
          </ac:picMkLst>
        </pc:picChg>
      </pc:sldChg>
      <pc:sldChg chg="modSp mod">
        <pc:chgData name="Mushaf Raza" userId="a673db03edc973b3" providerId="LiveId" clId="{1E6B3395-E433-4179-A0E8-A3ABD182890D}" dt="2025-12-24T08:20:10.307" v="100" actId="14100"/>
        <pc:sldMkLst>
          <pc:docMk/>
          <pc:sldMk cId="2670153144" sldId="280"/>
        </pc:sldMkLst>
        <pc:spChg chg="mod">
          <ac:chgData name="Mushaf Raza" userId="a673db03edc973b3" providerId="LiveId" clId="{1E6B3395-E433-4179-A0E8-A3ABD182890D}" dt="2025-12-24T08:20:10.307" v="100" actId="14100"/>
          <ac:spMkLst>
            <pc:docMk/>
            <pc:sldMk cId="2670153144" sldId="280"/>
            <ac:spMk id="7" creationId="{729D30A8-5415-36DF-4CFF-4DB5AE5E0457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31579C4-970B-41B8-9C6B-C004750335E0}" type="doc">
      <dgm:prSet loTypeId="urn:microsoft.com/office/officeart/2005/8/layout/default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BDB4A7DF-52FC-4F93-AACA-C632407F98B0}">
      <dgm:prSet custT="1"/>
      <dgm:spPr/>
      <dgm:t>
        <a:bodyPr/>
        <a:lstStyle/>
        <a:p>
          <a:r>
            <a:rPr lang="en-US" sz="2500" b="1" dirty="0"/>
            <a:t>Hardware Watchdog Design</a:t>
          </a:r>
        </a:p>
      </dgm:t>
    </dgm:pt>
    <dgm:pt modelId="{3D46EFC2-1983-4440-B6F2-4404F91D0860}" type="parTrans" cxnId="{18286F99-4A49-482D-A1A9-14935B7E1941}">
      <dgm:prSet/>
      <dgm:spPr/>
      <dgm:t>
        <a:bodyPr/>
        <a:lstStyle/>
        <a:p>
          <a:endParaRPr lang="en-US"/>
        </a:p>
      </dgm:t>
    </dgm:pt>
    <dgm:pt modelId="{2E8B417F-BAF3-46B2-87BD-7E077592147E}" type="sibTrans" cxnId="{18286F99-4A49-482D-A1A9-14935B7E1941}">
      <dgm:prSet/>
      <dgm:spPr/>
      <dgm:t>
        <a:bodyPr/>
        <a:lstStyle/>
        <a:p>
          <a:endParaRPr lang="en-US"/>
        </a:p>
      </dgm:t>
    </dgm:pt>
    <dgm:pt modelId="{9E7374CE-C2F7-47FA-AF1B-615E9892702E}">
      <dgm:prSet custT="1"/>
      <dgm:spPr/>
      <dgm:t>
        <a:bodyPr/>
        <a:lstStyle/>
        <a:p>
          <a:r>
            <a:rPr lang="en-US" sz="2500" b="1" dirty="0"/>
            <a:t>Software Hang Detection </a:t>
          </a:r>
        </a:p>
      </dgm:t>
    </dgm:pt>
    <dgm:pt modelId="{AEEFA2B4-D495-4FF5-9DF6-64147BE4AAB2}" type="parTrans" cxnId="{066A7E5D-3B8C-47B1-9A00-1BC0BC74CA59}">
      <dgm:prSet/>
      <dgm:spPr/>
      <dgm:t>
        <a:bodyPr/>
        <a:lstStyle/>
        <a:p>
          <a:endParaRPr lang="en-US"/>
        </a:p>
      </dgm:t>
    </dgm:pt>
    <dgm:pt modelId="{575D4937-771C-493C-B9ED-E3BB5B167971}" type="sibTrans" cxnId="{066A7E5D-3B8C-47B1-9A00-1BC0BC74CA59}">
      <dgm:prSet/>
      <dgm:spPr/>
      <dgm:t>
        <a:bodyPr/>
        <a:lstStyle/>
        <a:p>
          <a:endParaRPr lang="en-US"/>
        </a:p>
      </dgm:t>
    </dgm:pt>
    <dgm:pt modelId="{D010567D-58EB-4FC7-87CD-22F13B8F3957}">
      <dgm:prSet custT="1"/>
      <dgm:spPr/>
      <dgm:t>
        <a:bodyPr/>
        <a:lstStyle/>
        <a:p>
          <a:r>
            <a:rPr lang="en-US" sz="2500" b="1" dirty="0"/>
            <a:t>Watchdog Interrupt Generation                                                    </a:t>
          </a:r>
        </a:p>
      </dgm:t>
    </dgm:pt>
    <dgm:pt modelId="{463F5622-A5BD-42CA-9551-408E10B3689C}" type="parTrans" cxnId="{227B39BA-F127-4A3F-AA34-31A05BF048BE}">
      <dgm:prSet/>
      <dgm:spPr/>
      <dgm:t>
        <a:bodyPr/>
        <a:lstStyle/>
        <a:p>
          <a:endParaRPr lang="en-US"/>
        </a:p>
      </dgm:t>
    </dgm:pt>
    <dgm:pt modelId="{C8F8CB59-E73E-4665-A3C2-FFDF4652BE6D}" type="sibTrans" cxnId="{227B39BA-F127-4A3F-AA34-31A05BF048BE}">
      <dgm:prSet/>
      <dgm:spPr/>
      <dgm:t>
        <a:bodyPr/>
        <a:lstStyle/>
        <a:p>
          <a:endParaRPr lang="en-US"/>
        </a:p>
      </dgm:t>
    </dgm:pt>
    <dgm:pt modelId="{40D61506-88C6-42CF-9C40-A54E6A199CBE}">
      <dgm:prSet custT="1"/>
      <dgm:spPr/>
      <dgm:t>
        <a:bodyPr/>
        <a:lstStyle/>
        <a:p>
          <a:r>
            <a:rPr lang="en-US" sz="2500" b="1" dirty="0"/>
            <a:t>Processor Reset Mechanism </a:t>
          </a:r>
        </a:p>
      </dgm:t>
    </dgm:pt>
    <dgm:pt modelId="{646CBC81-9EC1-415A-99D8-9B0B3406AA1B}" type="parTrans" cxnId="{D1E6D3AA-C81E-4D2B-B60A-F3AF476C5BBF}">
      <dgm:prSet/>
      <dgm:spPr/>
      <dgm:t>
        <a:bodyPr/>
        <a:lstStyle/>
        <a:p>
          <a:endParaRPr lang="en-US"/>
        </a:p>
      </dgm:t>
    </dgm:pt>
    <dgm:pt modelId="{581EE429-004B-4F1F-A59C-725E6B7F14C3}" type="sibTrans" cxnId="{D1E6D3AA-C81E-4D2B-B60A-F3AF476C5BBF}">
      <dgm:prSet/>
      <dgm:spPr/>
      <dgm:t>
        <a:bodyPr/>
        <a:lstStyle/>
        <a:p>
          <a:endParaRPr lang="en-US"/>
        </a:p>
      </dgm:t>
    </dgm:pt>
    <dgm:pt modelId="{A2A0B723-C76A-4607-A7D8-3A47768A3084}">
      <dgm:prSet custT="1"/>
      <dgm:spPr/>
      <dgm:t>
        <a:bodyPr/>
        <a:lstStyle/>
        <a:p>
          <a:r>
            <a:rPr lang="en-US" sz="2500" b="1" dirty="0"/>
            <a:t>RTL Simulation and Verification </a:t>
          </a:r>
        </a:p>
      </dgm:t>
    </dgm:pt>
    <dgm:pt modelId="{AFC9D674-8F6A-4C80-8EE2-75C3C679D13D}" type="parTrans" cxnId="{770C45D0-BA6E-4192-8844-3EC8520D9826}">
      <dgm:prSet/>
      <dgm:spPr/>
      <dgm:t>
        <a:bodyPr/>
        <a:lstStyle/>
        <a:p>
          <a:endParaRPr lang="en-US"/>
        </a:p>
      </dgm:t>
    </dgm:pt>
    <dgm:pt modelId="{A6ADCE37-94D3-4CD0-90D8-8BF4833CC7EB}" type="sibTrans" cxnId="{770C45D0-BA6E-4192-8844-3EC8520D9826}">
      <dgm:prSet/>
      <dgm:spPr/>
      <dgm:t>
        <a:bodyPr/>
        <a:lstStyle/>
        <a:p>
          <a:endParaRPr lang="en-US"/>
        </a:p>
      </dgm:t>
    </dgm:pt>
    <dgm:pt modelId="{48941BBD-2BA2-4BF9-B228-4175B391C13D}">
      <dgm:prSet custT="1"/>
      <dgm:spPr/>
      <dgm:t>
        <a:bodyPr/>
        <a:lstStyle/>
        <a:p>
          <a:r>
            <a:rPr lang="en-US" sz="2500" b="1" dirty="0"/>
            <a:t>RV32i Pipeline Integration </a:t>
          </a:r>
        </a:p>
      </dgm:t>
    </dgm:pt>
    <dgm:pt modelId="{49893C8F-CAC3-4A4D-8D90-F07DB5EDB5E2}" type="parTrans" cxnId="{40F3036F-4138-4594-948D-AE770C13D6F9}">
      <dgm:prSet/>
      <dgm:spPr/>
      <dgm:t>
        <a:bodyPr/>
        <a:lstStyle/>
        <a:p>
          <a:endParaRPr lang="en-US"/>
        </a:p>
      </dgm:t>
    </dgm:pt>
    <dgm:pt modelId="{563079CC-5AC6-478C-BB42-93446BB5414B}" type="sibTrans" cxnId="{40F3036F-4138-4594-948D-AE770C13D6F9}">
      <dgm:prSet/>
      <dgm:spPr/>
      <dgm:t>
        <a:bodyPr/>
        <a:lstStyle/>
        <a:p>
          <a:endParaRPr lang="en-US"/>
        </a:p>
      </dgm:t>
    </dgm:pt>
    <dgm:pt modelId="{07177912-8DA6-46C3-91A4-DEFFB92FB6F7}" type="pres">
      <dgm:prSet presAssocID="{231579C4-970B-41B8-9C6B-C004750335E0}" presName="diagram" presStyleCnt="0">
        <dgm:presLayoutVars>
          <dgm:dir/>
          <dgm:resizeHandles val="exact"/>
        </dgm:presLayoutVars>
      </dgm:prSet>
      <dgm:spPr/>
    </dgm:pt>
    <dgm:pt modelId="{81AC7610-22D5-4CE8-9789-F1E3D23A829D}" type="pres">
      <dgm:prSet presAssocID="{BDB4A7DF-52FC-4F93-AACA-C632407F98B0}" presName="node" presStyleLbl="node1" presStyleIdx="0" presStyleCnt="6">
        <dgm:presLayoutVars>
          <dgm:bulletEnabled val="1"/>
        </dgm:presLayoutVars>
      </dgm:prSet>
      <dgm:spPr/>
    </dgm:pt>
    <dgm:pt modelId="{6D633A0D-D46C-4734-B499-FE46FC876D0D}" type="pres">
      <dgm:prSet presAssocID="{2E8B417F-BAF3-46B2-87BD-7E077592147E}" presName="sibTrans" presStyleCnt="0"/>
      <dgm:spPr/>
    </dgm:pt>
    <dgm:pt modelId="{8BC9A57A-58CC-4A52-AB10-7B12AC26ACF5}" type="pres">
      <dgm:prSet presAssocID="{48941BBD-2BA2-4BF9-B228-4175B391C13D}" presName="node" presStyleLbl="node1" presStyleIdx="1" presStyleCnt="6">
        <dgm:presLayoutVars>
          <dgm:bulletEnabled val="1"/>
        </dgm:presLayoutVars>
      </dgm:prSet>
      <dgm:spPr/>
    </dgm:pt>
    <dgm:pt modelId="{60487118-95AF-4D39-896B-C342BA1C7C8A}" type="pres">
      <dgm:prSet presAssocID="{563079CC-5AC6-478C-BB42-93446BB5414B}" presName="sibTrans" presStyleCnt="0"/>
      <dgm:spPr/>
    </dgm:pt>
    <dgm:pt modelId="{DAB74B4E-35B6-4665-8243-F3827BC2E420}" type="pres">
      <dgm:prSet presAssocID="{9E7374CE-C2F7-47FA-AF1B-615E9892702E}" presName="node" presStyleLbl="node1" presStyleIdx="2" presStyleCnt="6">
        <dgm:presLayoutVars>
          <dgm:bulletEnabled val="1"/>
        </dgm:presLayoutVars>
      </dgm:prSet>
      <dgm:spPr/>
    </dgm:pt>
    <dgm:pt modelId="{BAEFCECE-4EF9-46CF-BEAD-44A1432A322B}" type="pres">
      <dgm:prSet presAssocID="{575D4937-771C-493C-B9ED-E3BB5B167971}" presName="sibTrans" presStyleCnt="0"/>
      <dgm:spPr/>
    </dgm:pt>
    <dgm:pt modelId="{C6813464-5F95-4526-9589-5FF10C9850F5}" type="pres">
      <dgm:prSet presAssocID="{D010567D-58EB-4FC7-87CD-22F13B8F3957}" presName="node" presStyleLbl="node1" presStyleIdx="3" presStyleCnt="6">
        <dgm:presLayoutVars>
          <dgm:bulletEnabled val="1"/>
        </dgm:presLayoutVars>
      </dgm:prSet>
      <dgm:spPr/>
    </dgm:pt>
    <dgm:pt modelId="{686F5652-91D2-4C2E-AE43-E7C4F7E2C1FA}" type="pres">
      <dgm:prSet presAssocID="{C8F8CB59-E73E-4665-A3C2-FFDF4652BE6D}" presName="sibTrans" presStyleCnt="0"/>
      <dgm:spPr/>
    </dgm:pt>
    <dgm:pt modelId="{B758DDE6-1403-4570-B477-74D522C98AC9}" type="pres">
      <dgm:prSet presAssocID="{40D61506-88C6-42CF-9C40-A54E6A199CBE}" presName="node" presStyleLbl="node1" presStyleIdx="4" presStyleCnt="6">
        <dgm:presLayoutVars>
          <dgm:bulletEnabled val="1"/>
        </dgm:presLayoutVars>
      </dgm:prSet>
      <dgm:spPr/>
    </dgm:pt>
    <dgm:pt modelId="{FAE3B0D6-E356-47D9-B952-E540C295357E}" type="pres">
      <dgm:prSet presAssocID="{581EE429-004B-4F1F-A59C-725E6B7F14C3}" presName="sibTrans" presStyleCnt="0"/>
      <dgm:spPr/>
    </dgm:pt>
    <dgm:pt modelId="{8415F4C0-9BB1-4B08-AEBB-C852A11EE855}" type="pres">
      <dgm:prSet presAssocID="{A2A0B723-C76A-4607-A7D8-3A47768A3084}" presName="node" presStyleLbl="node1" presStyleIdx="5" presStyleCnt="6">
        <dgm:presLayoutVars>
          <dgm:bulletEnabled val="1"/>
        </dgm:presLayoutVars>
      </dgm:prSet>
      <dgm:spPr/>
    </dgm:pt>
  </dgm:ptLst>
  <dgm:cxnLst>
    <dgm:cxn modelId="{D6080A03-0C95-4F51-AB2D-EB2451B28454}" type="presOf" srcId="{48941BBD-2BA2-4BF9-B228-4175B391C13D}" destId="{8BC9A57A-58CC-4A52-AB10-7B12AC26ACF5}" srcOrd="0" destOrd="0" presId="urn:microsoft.com/office/officeart/2005/8/layout/default"/>
    <dgm:cxn modelId="{7AEF1309-F54B-4786-B808-244B54D00376}" type="presOf" srcId="{D010567D-58EB-4FC7-87CD-22F13B8F3957}" destId="{C6813464-5F95-4526-9589-5FF10C9850F5}" srcOrd="0" destOrd="0" presId="urn:microsoft.com/office/officeart/2005/8/layout/default"/>
    <dgm:cxn modelId="{4190961C-CCE3-4FEB-80BD-14671E885600}" type="presOf" srcId="{A2A0B723-C76A-4607-A7D8-3A47768A3084}" destId="{8415F4C0-9BB1-4B08-AEBB-C852A11EE855}" srcOrd="0" destOrd="0" presId="urn:microsoft.com/office/officeart/2005/8/layout/default"/>
    <dgm:cxn modelId="{0E66141D-01FD-40FB-B92C-07D597212E99}" type="presOf" srcId="{BDB4A7DF-52FC-4F93-AACA-C632407F98B0}" destId="{81AC7610-22D5-4CE8-9789-F1E3D23A829D}" srcOrd="0" destOrd="0" presId="urn:microsoft.com/office/officeart/2005/8/layout/default"/>
    <dgm:cxn modelId="{066A7E5D-3B8C-47B1-9A00-1BC0BC74CA59}" srcId="{231579C4-970B-41B8-9C6B-C004750335E0}" destId="{9E7374CE-C2F7-47FA-AF1B-615E9892702E}" srcOrd="2" destOrd="0" parTransId="{AEEFA2B4-D495-4FF5-9DF6-64147BE4AAB2}" sibTransId="{575D4937-771C-493C-B9ED-E3BB5B167971}"/>
    <dgm:cxn modelId="{24691546-F795-4BFF-B642-4D87291A0D14}" type="presOf" srcId="{231579C4-970B-41B8-9C6B-C004750335E0}" destId="{07177912-8DA6-46C3-91A4-DEFFB92FB6F7}" srcOrd="0" destOrd="0" presId="urn:microsoft.com/office/officeart/2005/8/layout/default"/>
    <dgm:cxn modelId="{40F3036F-4138-4594-948D-AE770C13D6F9}" srcId="{231579C4-970B-41B8-9C6B-C004750335E0}" destId="{48941BBD-2BA2-4BF9-B228-4175B391C13D}" srcOrd="1" destOrd="0" parTransId="{49893C8F-CAC3-4A4D-8D90-F07DB5EDB5E2}" sibTransId="{563079CC-5AC6-478C-BB42-93446BB5414B}"/>
    <dgm:cxn modelId="{18286F99-4A49-482D-A1A9-14935B7E1941}" srcId="{231579C4-970B-41B8-9C6B-C004750335E0}" destId="{BDB4A7DF-52FC-4F93-AACA-C632407F98B0}" srcOrd="0" destOrd="0" parTransId="{3D46EFC2-1983-4440-B6F2-4404F91D0860}" sibTransId="{2E8B417F-BAF3-46B2-87BD-7E077592147E}"/>
    <dgm:cxn modelId="{24BA10A1-EFF5-4597-B7B2-9AA77A6AF523}" type="presOf" srcId="{40D61506-88C6-42CF-9C40-A54E6A199CBE}" destId="{B758DDE6-1403-4570-B477-74D522C98AC9}" srcOrd="0" destOrd="0" presId="urn:microsoft.com/office/officeart/2005/8/layout/default"/>
    <dgm:cxn modelId="{D1E6D3AA-C81E-4D2B-B60A-F3AF476C5BBF}" srcId="{231579C4-970B-41B8-9C6B-C004750335E0}" destId="{40D61506-88C6-42CF-9C40-A54E6A199CBE}" srcOrd="4" destOrd="0" parTransId="{646CBC81-9EC1-415A-99D8-9B0B3406AA1B}" sibTransId="{581EE429-004B-4F1F-A59C-725E6B7F14C3}"/>
    <dgm:cxn modelId="{07D988B4-1C01-403D-A250-93836285A5B4}" type="presOf" srcId="{9E7374CE-C2F7-47FA-AF1B-615E9892702E}" destId="{DAB74B4E-35B6-4665-8243-F3827BC2E420}" srcOrd="0" destOrd="0" presId="urn:microsoft.com/office/officeart/2005/8/layout/default"/>
    <dgm:cxn modelId="{227B39BA-F127-4A3F-AA34-31A05BF048BE}" srcId="{231579C4-970B-41B8-9C6B-C004750335E0}" destId="{D010567D-58EB-4FC7-87CD-22F13B8F3957}" srcOrd="3" destOrd="0" parTransId="{463F5622-A5BD-42CA-9551-408E10B3689C}" sibTransId="{C8F8CB59-E73E-4665-A3C2-FFDF4652BE6D}"/>
    <dgm:cxn modelId="{770C45D0-BA6E-4192-8844-3EC8520D9826}" srcId="{231579C4-970B-41B8-9C6B-C004750335E0}" destId="{A2A0B723-C76A-4607-A7D8-3A47768A3084}" srcOrd="5" destOrd="0" parTransId="{AFC9D674-8F6A-4C80-8EE2-75C3C679D13D}" sibTransId="{A6ADCE37-94D3-4CD0-90D8-8BF4833CC7EB}"/>
    <dgm:cxn modelId="{6092C4C7-6C0D-4C04-814E-CD848369A5C7}" type="presParOf" srcId="{07177912-8DA6-46C3-91A4-DEFFB92FB6F7}" destId="{81AC7610-22D5-4CE8-9789-F1E3D23A829D}" srcOrd="0" destOrd="0" presId="urn:microsoft.com/office/officeart/2005/8/layout/default"/>
    <dgm:cxn modelId="{08C4156D-6A06-4994-AAB8-FA350F42833A}" type="presParOf" srcId="{07177912-8DA6-46C3-91A4-DEFFB92FB6F7}" destId="{6D633A0D-D46C-4734-B499-FE46FC876D0D}" srcOrd="1" destOrd="0" presId="urn:microsoft.com/office/officeart/2005/8/layout/default"/>
    <dgm:cxn modelId="{6D5BCB32-5035-45A0-98E6-CA59187DEFA8}" type="presParOf" srcId="{07177912-8DA6-46C3-91A4-DEFFB92FB6F7}" destId="{8BC9A57A-58CC-4A52-AB10-7B12AC26ACF5}" srcOrd="2" destOrd="0" presId="urn:microsoft.com/office/officeart/2005/8/layout/default"/>
    <dgm:cxn modelId="{EA873ADA-BFD5-4FCE-8AA4-00FE7FEC24BA}" type="presParOf" srcId="{07177912-8DA6-46C3-91A4-DEFFB92FB6F7}" destId="{60487118-95AF-4D39-896B-C342BA1C7C8A}" srcOrd="3" destOrd="0" presId="urn:microsoft.com/office/officeart/2005/8/layout/default"/>
    <dgm:cxn modelId="{DE21AE88-F13B-4FE4-9508-E311782E2635}" type="presParOf" srcId="{07177912-8DA6-46C3-91A4-DEFFB92FB6F7}" destId="{DAB74B4E-35B6-4665-8243-F3827BC2E420}" srcOrd="4" destOrd="0" presId="urn:microsoft.com/office/officeart/2005/8/layout/default"/>
    <dgm:cxn modelId="{61D9FB5E-54BD-4063-ABDD-E144B54DE923}" type="presParOf" srcId="{07177912-8DA6-46C3-91A4-DEFFB92FB6F7}" destId="{BAEFCECE-4EF9-46CF-BEAD-44A1432A322B}" srcOrd="5" destOrd="0" presId="urn:microsoft.com/office/officeart/2005/8/layout/default"/>
    <dgm:cxn modelId="{9E0B377D-D59D-4DFE-8044-991151CD1654}" type="presParOf" srcId="{07177912-8DA6-46C3-91A4-DEFFB92FB6F7}" destId="{C6813464-5F95-4526-9589-5FF10C9850F5}" srcOrd="6" destOrd="0" presId="urn:microsoft.com/office/officeart/2005/8/layout/default"/>
    <dgm:cxn modelId="{897647BB-5744-4260-BEF7-19F891F41A82}" type="presParOf" srcId="{07177912-8DA6-46C3-91A4-DEFFB92FB6F7}" destId="{686F5652-91D2-4C2E-AE43-E7C4F7E2C1FA}" srcOrd="7" destOrd="0" presId="urn:microsoft.com/office/officeart/2005/8/layout/default"/>
    <dgm:cxn modelId="{52429562-A94B-487C-85E3-947412A93167}" type="presParOf" srcId="{07177912-8DA6-46C3-91A4-DEFFB92FB6F7}" destId="{B758DDE6-1403-4570-B477-74D522C98AC9}" srcOrd="8" destOrd="0" presId="urn:microsoft.com/office/officeart/2005/8/layout/default"/>
    <dgm:cxn modelId="{94FEB30B-F260-4836-836F-A714D30784AB}" type="presParOf" srcId="{07177912-8DA6-46C3-91A4-DEFFB92FB6F7}" destId="{FAE3B0D6-E356-47D9-B952-E540C295357E}" srcOrd="9" destOrd="0" presId="urn:microsoft.com/office/officeart/2005/8/layout/default"/>
    <dgm:cxn modelId="{594BBABC-CF64-473C-AF87-6D007E522DB7}" type="presParOf" srcId="{07177912-8DA6-46C3-91A4-DEFFB92FB6F7}" destId="{8415F4C0-9BB1-4B08-AEBB-C852A11EE855}" srcOrd="10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1AC7610-22D5-4CE8-9789-F1E3D23A829D}">
      <dsp:nvSpPr>
        <dsp:cNvPr id="0" name=""/>
        <dsp:cNvSpPr/>
      </dsp:nvSpPr>
      <dsp:spPr>
        <a:xfrm>
          <a:off x="581501" y="2044"/>
          <a:ext cx="2779811" cy="1667887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kern="1200" dirty="0"/>
            <a:t>Hardware Watchdog Design</a:t>
          </a:r>
        </a:p>
      </dsp:txBody>
      <dsp:txXfrm>
        <a:off x="581501" y="2044"/>
        <a:ext cx="2779811" cy="1667887"/>
      </dsp:txXfrm>
    </dsp:sp>
    <dsp:sp modelId="{8BC9A57A-58CC-4A52-AB10-7B12AC26ACF5}">
      <dsp:nvSpPr>
        <dsp:cNvPr id="0" name=""/>
        <dsp:cNvSpPr/>
      </dsp:nvSpPr>
      <dsp:spPr>
        <a:xfrm>
          <a:off x="3639294" y="2044"/>
          <a:ext cx="2779811" cy="1667887"/>
        </a:xfrm>
        <a:prstGeom prst="rect">
          <a:avLst/>
        </a:prstGeom>
        <a:solidFill>
          <a:schemeClr val="accent2">
            <a:hueOff val="381558"/>
            <a:satOff val="-8706"/>
            <a:lumOff val="321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kern="1200" dirty="0"/>
            <a:t>RV32i Pipeline Integration </a:t>
          </a:r>
        </a:p>
      </dsp:txBody>
      <dsp:txXfrm>
        <a:off x="3639294" y="2044"/>
        <a:ext cx="2779811" cy="1667887"/>
      </dsp:txXfrm>
    </dsp:sp>
    <dsp:sp modelId="{DAB74B4E-35B6-4665-8243-F3827BC2E420}">
      <dsp:nvSpPr>
        <dsp:cNvPr id="0" name=""/>
        <dsp:cNvSpPr/>
      </dsp:nvSpPr>
      <dsp:spPr>
        <a:xfrm>
          <a:off x="6697087" y="2044"/>
          <a:ext cx="2779811" cy="1667887"/>
        </a:xfrm>
        <a:prstGeom prst="rect">
          <a:avLst/>
        </a:prstGeom>
        <a:solidFill>
          <a:schemeClr val="accent2">
            <a:hueOff val="763116"/>
            <a:satOff val="-17411"/>
            <a:lumOff val="643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kern="1200" dirty="0"/>
            <a:t>Software Hang Detection </a:t>
          </a:r>
        </a:p>
      </dsp:txBody>
      <dsp:txXfrm>
        <a:off x="6697087" y="2044"/>
        <a:ext cx="2779811" cy="1667887"/>
      </dsp:txXfrm>
    </dsp:sp>
    <dsp:sp modelId="{C6813464-5F95-4526-9589-5FF10C9850F5}">
      <dsp:nvSpPr>
        <dsp:cNvPr id="0" name=""/>
        <dsp:cNvSpPr/>
      </dsp:nvSpPr>
      <dsp:spPr>
        <a:xfrm>
          <a:off x="581501" y="1947913"/>
          <a:ext cx="2779811" cy="1667887"/>
        </a:xfrm>
        <a:prstGeom prst="rect">
          <a:avLst/>
        </a:prstGeom>
        <a:solidFill>
          <a:schemeClr val="accent2">
            <a:hueOff val="1144674"/>
            <a:satOff val="-26117"/>
            <a:lumOff val="9647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kern="1200" dirty="0"/>
            <a:t>Watchdog Interrupt Generation                                                    </a:t>
          </a:r>
        </a:p>
      </dsp:txBody>
      <dsp:txXfrm>
        <a:off x="581501" y="1947913"/>
        <a:ext cx="2779811" cy="1667887"/>
      </dsp:txXfrm>
    </dsp:sp>
    <dsp:sp modelId="{B758DDE6-1403-4570-B477-74D522C98AC9}">
      <dsp:nvSpPr>
        <dsp:cNvPr id="0" name=""/>
        <dsp:cNvSpPr/>
      </dsp:nvSpPr>
      <dsp:spPr>
        <a:xfrm>
          <a:off x="3639294" y="1947913"/>
          <a:ext cx="2779811" cy="1667887"/>
        </a:xfrm>
        <a:prstGeom prst="rect">
          <a:avLst/>
        </a:prstGeom>
        <a:solidFill>
          <a:schemeClr val="accent2">
            <a:hueOff val="1526231"/>
            <a:satOff val="-34822"/>
            <a:lumOff val="1286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kern="1200" dirty="0"/>
            <a:t>Processor Reset Mechanism </a:t>
          </a:r>
        </a:p>
      </dsp:txBody>
      <dsp:txXfrm>
        <a:off x="3639294" y="1947913"/>
        <a:ext cx="2779811" cy="1667887"/>
      </dsp:txXfrm>
    </dsp:sp>
    <dsp:sp modelId="{8415F4C0-9BB1-4B08-AEBB-C852A11EE855}">
      <dsp:nvSpPr>
        <dsp:cNvPr id="0" name=""/>
        <dsp:cNvSpPr/>
      </dsp:nvSpPr>
      <dsp:spPr>
        <a:xfrm>
          <a:off x="6697087" y="1947913"/>
          <a:ext cx="2779811" cy="1667887"/>
        </a:xfrm>
        <a:prstGeom prst="rect">
          <a:avLst/>
        </a:prstGeom>
        <a:solidFill>
          <a:schemeClr val="accent2">
            <a:hueOff val="1907789"/>
            <a:satOff val="-43528"/>
            <a:lumOff val="16079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kern="1200" dirty="0"/>
            <a:t>RTL Simulation and Verification </a:t>
          </a:r>
        </a:p>
      </dsp:txBody>
      <dsp:txXfrm>
        <a:off x="6697087" y="1947913"/>
        <a:ext cx="2779811" cy="166788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4B4FF6-49A2-4239-B40C-F4CCE39E9227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732391-6F03-45A6-A810-15E6761B3A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07756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960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AA18A4-6BB8-42DE-B879-421F2CA0C98B}" type="datetime1">
              <a:rPr lang="en-US" smtClean="0"/>
              <a:t>12/24/2025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/>
            </a:lvl1pPr>
          </a:lstStyle>
          <a:p>
            <a:fld id="{1EE665CF-97B6-4B1A-B737-E4A19F3502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25486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947EF3-23B6-4A26-93CD-4011D7D84BB7}" type="datetime1">
              <a:rPr lang="en-US" smtClean="0"/>
              <a:t>12/24/2025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665CF-97B6-4B1A-B737-E4A19F3502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75795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8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7B46134B-56A4-42BB-B74C-1DF56A35D3EB}" type="datetime1">
              <a:rPr lang="en-US" smtClean="0"/>
              <a:t>12/24/2025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1EE665CF-97B6-4B1A-B737-E4A19F3502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49940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B0AA6-F093-4342-B5E8-776ECAEBB57A}" type="datetime1">
              <a:rPr lang="en-US" smtClean="0"/>
              <a:t>12/24/2025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665CF-97B6-4B1A-B737-E4A19F3502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93731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3FC14A-B908-400C-9A86-DD643AF1D5B7}" type="datetime1">
              <a:rPr lang="en-US" smtClean="0"/>
              <a:t>12/24/2025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665CF-97B6-4B1A-B737-E4A19F3502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19122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37129-8656-4FAE-80F9-3DDD0060076A}" type="datetime1">
              <a:rPr lang="en-US" smtClean="0"/>
              <a:t>12/24/2025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665CF-97B6-4B1A-B737-E4A19F3502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68424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AE9675-EEE9-43EB-94F3-71BC385885C1}" type="datetime1">
              <a:rPr lang="en-US" smtClean="0"/>
              <a:t>12/24/2025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665CF-97B6-4B1A-B737-E4A19F3502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35549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98FCDC-5D40-4D4C-9243-655C837F3568}" type="datetime1">
              <a:rPr lang="en-US" smtClean="0"/>
              <a:t>12/24/2025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665CF-97B6-4B1A-B737-E4A19F3502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81645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A53AC-CC2B-41BE-B704-309C8D330F7F}" type="datetime1">
              <a:rPr lang="en-US" smtClean="0"/>
              <a:t>12/24/2025</a:t>
            </a:fld>
            <a:endParaRPr lang="en-US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665CF-97B6-4B1A-B737-E4A19F3502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02916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DFBE5-2783-436E-8F28-4E94F43670B2}" type="datetime1">
              <a:rPr lang="en-US" smtClean="0"/>
              <a:t>12/24/2025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665CF-97B6-4B1A-B737-E4A19F3502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69518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8B5FE2-4FEC-4452-A1CA-D72A89A4F146}" type="datetime1">
              <a:rPr lang="en-US" smtClean="0"/>
              <a:t>12/24/2025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665CF-97B6-4B1A-B737-E4A19F3502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94852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DD564353-33A7-4E6B-8CEF-EAAB520C65EC}" type="datetime1">
              <a:rPr lang="en-US" smtClean="0"/>
              <a:t>12/24/2025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j-lt"/>
              </a:defRPr>
            </a:lvl1pPr>
          </a:lstStyle>
          <a:p>
            <a:fld id="{1EE665CF-97B6-4B1A-B737-E4A19F3502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26221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7" Type="http://schemas.openxmlformats.org/officeDocument/2006/relationships/image" Target="../media/image8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microsoft.com/office/2007/relationships/hdphoto" Target="../media/hdphoto2.wdp"/><Relationship Id="rId7" Type="http://schemas.openxmlformats.org/officeDocument/2006/relationships/diagramColors" Target="../diagrams/colors1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10" Type="http://schemas.openxmlformats.org/officeDocument/2006/relationships/image" Target="../media/image10.svg"/><Relationship Id="rId4" Type="http://schemas.openxmlformats.org/officeDocument/2006/relationships/diagramData" Target="../diagrams/data1.xml"/><Relationship Id="rId9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7" Type="http://schemas.microsoft.com/office/2007/relationships/hdphoto" Target="../media/hdphoto1.wdp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microsoft.com/office/2007/relationships/hdphoto" Target="../media/hdphoto2.wdp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52CB88-AC50-3395-FDA1-71B613433D1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1165" y="1459533"/>
            <a:ext cx="10672354" cy="2989344"/>
          </a:xfrm>
        </p:spPr>
        <p:txBody>
          <a:bodyPr>
            <a:normAutofit/>
          </a:bodyPr>
          <a:lstStyle/>
          <a:p>
            <a:pPr algn="ctr"/>
            <a:r>
              <a:rPr lang="en-US" sz="7200" dirty="0"/>
              <a:t>Design and Verification of a Watchdog Timer Extension for RV32I Processor</a:t>
            </a:r>
            <a:endParaRPr lang="en-US" sz="7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0702C03-06FF-89B3-D148-542F560AFA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03514" y="4608781"/>
            <a:ext cx="4661544" cy="1693696"/>
          </a:xfrm>
        </p:spPr>
        <p:txBody>
          <a:bodyPr>
            <a:normAutofit lnSpcReduction="10000"/>
          </a:bodyPr>
          <a:lstStyle/>
          <a:p>
            <a:r>
              <a:rPr lang="en-US" b="1" dirty="0"/>
              <a:t>Presented By: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b="1" dirty="0"/>
              <a:t>Ibraheem Hasnain (412444)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b="1" dirty="0"/>
              <a:t>Aneeq </a:t>
            </a:r>
            <a:r>
              <a:rPr lang="en-US" b="1" dirty="0" err="1"/>
              <a:t>ur</a:t>
            </a:r>
            <a:r>
              <a:rPr lang="en-US" b="1" dirty="0"/>
              <a:t> Rehman (418794)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b="1" dirty="0"/>
              <a:t>Agha Mushaf Raza (423074)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3FEE503-334B-229B-960F-3CED2A8F15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665CF-97B6-4B1A-B737-E4A19F350209}" type="slidenum">
              <a:rPr lang="en-US" smtClean="0"/>
              <a:t>1</a:t>
            </a:fld>
            <a:endParaRPr lang="en-US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AFC788D3-C7B4-310E-FE09-5F16ECF336FF}"/>
              </a:ext>
            </a:extLst>
          </p:cNvPr>
          <p:cNvSpPr txBox="1">
            <a:spLocks/>
          </p:cNvSpPr>
          <p:nvPr/>
        </p:nvSpPr>
        <p:spPr>
          <a:xfrm>
            <a:off x="1976247" y="785804"/>
            <a:ext cx="8239505" cy="51382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None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None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None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600" b="1" dirty="0"/>
              <a:t>EE-321: Computer Architecture and Organization </a:t>
            </a:r>
          </a:p>
        </p:txBody>
      </p:sp>
    </p:spTree>
    <p:extLst>
      <p:ext uri="{BB962C8B-B14F-4D97-AF65-F5344CB8AC3E}">
        <p14:creationId xmlns:p14="http://schemas.microsoft.com/office/powerpoint/2010/main" val="38708849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BDBA584-92CB-0E0B-DC53-C619A0D35B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29F43E8E-957D-9290-09F3-7401A8CE40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66800" y="2013293"/>
            <a:ext cx="10058400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19C15F-A673-CDC3-BD55-7AD84993FB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11128" y="6272784"/>
            <a:ext cx="64008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1EE665CF-97B6-4B1A-B737-E4A19F350209}" type="slidenum">
              <a:rPr lang="en-US" smtClean="0"/>
              <a:pPr>
                <a:spcAft>
                  <a:spcPts val="600"/>
                </a:spcAft>
              </a:pPr>
              <a:t>2</a:t>
            </a:fld>
            <a:endParaRPr lang="en-US"/>
          </a:p>
        </p:txBody>
      </p:sp>
      <p:sp>
        <p:nvSpPr>
          <p:cNvPr id="29" name="Content Placeholder 28">
            <a:extLst>
              <a:ext uri="{FF2B5EF4-FFF2-40B4-BE49-F238E27FC236}">
                <a16:creationId xmlns:a16="http://schemas.microsoft.com/office/drawing/2014/main" id="{C08F07A4-9402-8BE8-6510-C97B9FFEB3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2221992"/>
            <a:ext cx="10058400" cy="4050792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endParaRPr lang="en-US" b="1" dirty="0"/>
          </a:p>
          <a:p>
            <a:pPr marL="0" indent="0" algn="ctr">
              <a:buNone/>
            </a:pPr>
            <a:r>
              <a:rPr lang="en-US" sz="3200" b="1" dirty="0">
                <a:ea typeface="+mn-lt"/>
                <a:cs typeface="+mn-lt"/>
              </a:rPr>
              <a:t>To enhance RV32I processor reliability by automatically detecting software hangs and recovering the system using a hardware watchdog timer</a:t>
            </a:r>
            <a:endParaRPr lang="en-US" sz="3200" b="1" dirty="0"/>
          </a:p>
          <a:p>
            <a:pPr marL="0" indent="0" algn="ctr">
              <a:buNone/>
            </a:pPr>
            <a:endParaRPr lang="en-US" sz="3200" b="1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3995FF62-10A8-6C7A-F7C1-E876870E07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477224"/>
            <a:ext cx="10058400" cy="1609344"/>
          </a:xfrm>
        </p:spPr>
        <p:txBody>
          <a:bodyPr/>
          <a:lstStyle/>
          <a:p>
            <a:r>
              <a:rPr lang="en-US" dirty="0"/>
              <a:t>Motivation </a:t>
            </a:r>
          </a:p>
        </p:txBody>
      </p:sp>
      <p:pic>
        <p:nvPicPr>
          <p:cNvPr id="8" name="Graphic 7" descr="Dog">
            <a:extLst>
              <a:ext uri="{FF2B5EF4-FFF2-40B4-BE49-F238E27FC236}">
                <a16:creationId xmlns:a16="http://schemas.microsoft.com/office/drawing/2014/main" id="{84A3E49E-B3C0-F39A-FFB7-07F074B15BF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15636" y="4009793"/>
            <a:ext cx="3360717" cy="3360717"/>
          </a:xfrm>
          <a:prstGeom prst="rect">
            <a:avLst/>
          </a:prstGeom>
        </p:spPr>
      </p:pic>
      <p:pic>
        <p:nvPicPr>
          <p:cNvPr id="9" name="그래픽 90" descr="Stopwatch">
            <a:extLst>
              <a:ext uri="{FF2B5EF4-FFF2-40B4-BE49-F238E27FC236}">
                <a16:creationId xmlns:a16="http://schemas.microsoft.com/office/drawing/2014/main" id="{69FFAFEC-451B-F3BA-1BD6-32411F96B03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172461" y="0"/>
            <a:ext cx="2138667" cy="2138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47866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9F406E-DFE2-C0F4-F667-58876E7D65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</p:spPr>
        <p:txBody>
          <a:bodyPr>
            <a:normAutofit/>
          </a:bodyPr>
          <a:lstStyle/>
          <a:p>
            <a:r>
              <a:rPr lang="en-US" dirty="0"/>
              <a:t>Project Objectives 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FD711E9-7F79-40A9-8D9E-4AE293C154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66800" y="2013293"/>
            <a:ext cx="10058400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A9D8F1-D19F-A5A6-D057-4302358BD3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11128" y="6272784"/>
            <a:ext cx="64008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1EE665CF-97B6-4B1A-B737-E4A19F350209}" type="slidenum">
              <a:rPr lang="en-US" smtClean="0"/>
              <a:pPr>
                <a:spcAft>
                  <a:spcPts val="600"/>
                </a:spcAft>
              </a:pPr>
              <a:t>3</a:t>
            </a:fld>
            <a:endParaRPr lang="en-US"/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143CD4A9-1697-2607-AE39-FACE4BF6946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09776790"/>
              </p:ext>
            </p:extLst>
          </p:nvPr>
        </p:nvGraphicFramePr>
        <p:xfrm>
          <a:off x="1069975" y="2385390"/>
          <a:ext cx="10058400" cy="361784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pic>
        <p:nvPicPr>
          <p:cNvPr id="5" name="Graphic 4" descr="Classroom">
            <a:extLst>
              <a:ext uri="{FF2B5EF4-FFF2-40B4-BE49-F238E27FC236}">
                <a16:creationId xmlns:a16="http://schemas.microsoft.com/office/drawing/2014/main" id="{F141FD29-DFB8-FE82-306A-A856E7639A60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164902" y="127582"/>
            <a:ext cx="1966394" cy="1966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26109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EB53CD-54D8-F355-F4F2-D5918F8384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948" y="685800"/>
            <a:ext cx="11611897" cy="1609344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RV32I Overview &amp; System Architecture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D68A46-1025-6798-FEA3-C15E8A726E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2221992"/>
            <a:ext cx="10058400" cy="405079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b="1" dirty="0"/>
              <a:t>RV32I Overview:</a:t>
            </a:r>
            <a:endParaRPr lang="en-US" sz="2800" dirty="0"/>
          </a:p>
          <a:p>
            <a:pPr lvl="1"/>
            <a:r>
              <a:rPr lang="en-US" sz="2800" dirty="0"/>
              <a:t>5-stage pipelined architecture: </a:t>
            </a:r>
            <a:r>
              <a:rPr lang="en-US" sz="2800" b="1" dirty="0"/>
              <a:t>IF, ID, EX, MEM, WB</a:t>
            </a:r>
            <a:endParaRPr lang="en-US" sz="2800" dirty="0"/>
          </a:p>
          <a:p>
            <a:pPr lvl="1"/>
            <a:r>
              <a:rPr lang="en-US" sz="2800" dirty="0"/>
              <a:t>Minimal and extensible </a:t>
            </a:r>
            <a:r>
              <a:rPr lang="en-US" sz="2800" b="1" dirty="0"/>
              <a:t>RISC-V ISA</a:t>
            </a:r>
            <a:endParaRPr lang="en-US" sz="2800" dirty="0"/>
          </a:p>
          <a:p>
            <a:pPr lvl="1"/>
            <a:r>
              <a:rPr lang="en-US" sz="2800" dirty="0"/>
              <a:t>Supports hardware </a:t>
            </a:r>
            <a:r>
              <a:rPr lang="en-US" sz="2800" b="1" dirty="0"/>
              <a:t>extensions</a:t>
            </a:r>
            <a:endParaRPr lang="en-US" sz="2800" dirty="0"/>
          </a:p>
          <a:p>
            <a:pPr marL="0" indent="0">
              <a:buNone/>
            </a:pPr>
            <a:r>
              <a:rPr lang="en-US" sz="2800" b="1" dirty="0"/>
              <a:t>System Architecture (before Watchdog):</a:t>
            </a:r>
            <a:endParaRPr lang="en-US" sz="2800" dirty="0"/>
          </a:p>
          <a:p>
            <a:pPr lvl="1"/>
            <a:r>
              <a:rPr lang="en-US" sz="2800" dirty="0"/>
              <a:t>RV32I Pipeline Core</a:t>
            </a:r>
          </a:p>
          <a:p>
            <a:pPr lvl="1"/>
            <a:r>
              <a:rPr lang="en-US" sz="2800" dirty="0"/>
              <a:t>Separate Data Path and Control Path</a:t>
            </a:r>
          </a:p>
          <a:p>
            <a:pPr lvl="1"/>
            <a:r>
              <a:rPr lang="en-US" sz="2800" dirty="0"/>
              <a:t>Modular and extensible for </a:t>
            </a:r>
            <a:r>
              <a:rPr lang="en-US" sz="2800" b="1" dirty="0"/>
              <a:t>future safety modules</a:t>
            </a:r>
            <a:endParaRPr lang="en-US" sz="2800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A33AF4-9DCB-9676-C2D6-F22B86DE6F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665CF-97B6-4B1A-B737-E4A19F350209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0462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3C06EAFD-0C69-4B3B-BEA7-E7E11DDF9C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4066C89-42FB-4624-9AFE-3A31B36491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44" y="0"/>
            <a:ext cx="4648169" cy="6858000"/>
          </a:xfrm>
          <a:prstGeom prst="rect">
            <a:avLst/>
          </a:prstGeom>
          <a:blipFill dpi="0" rotWithShape="1">
            <a:blip r:embed="rId2">
              <a:duotone>
                <a:schemeClr val="accent1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aturation sat="400000"/>
                      </a14:imgEffect>
                      <a14:imgEffect>
                        <a14:brightnessContrast bright="-40000" contrast="40000"/>
                      </a14:imgEffect>
                    </a14:imgLayer>
                  </a14:imgProps>
                </a:ext>
              </a:extLst>
            </a:blip>
            <a:srcRect/>
            <a:tile tx="0" ty="0" sx="85000" sy="85000" flip="none" algn="tl"/>
          </a:blipFill>
          <a:ln w="25400" cap="flat" cmpd="sng" algn="ctr">
            <a:noFill/>
            <a:prstDash val="solid"/>
          </a:ln>
          <a:effectLst/>
        </p:spPr>
        <p:txBody>
          <a:bodyPr lIns="0" tIns="0" rIns="0" bIns="0" rtlCol="0" anchor="ctr"/>
          <a:lstStyle/>
          <a:p>
            <a:pPr algn="ctr" defTabSz="914400"/>
            <a:endParaRPr lang="en-US" sz="2000" kern="0">
              <a:solidFill>
                <a:prstClr val="white"/>
              </a:solidFill>
              <a:latin typeface="Rockwell Extra Bold" pitchFamily="18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91D2C93-6432-116A-194D-F586C51C3A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2845" y="744050"/>
            <a:ext cx="3686312" cy="5528734"/>
          </a:xfrm>
        </p:spPr>
        <p:txBody>
          <a:bodyPr>
            <a:normAutofit/>
          </a:bodyPr>
          <a:lstStyle/>
          <a:p>
            <a:pPr algn="ctr"/>
            <a:r>
              <a:rPr lang="en-US" sz="5000" dirty="0">
                <a:solidFill>
                  <a:srgbClr val="FFFFFF"/>
                </a:solidFill>
              </a:rPr>
              <a:t>Watchdog Timer Design and Operation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D65300-1324-373D-A9B6-002A2ADA1B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91362" y="1062508"/>
            <a:ext cx="6074467" cy="5572432"/>
          </a:xfrm>
        </p:spPr>
        <p:txBody>
          <a:bodyPr anchor="ctr">
            <a:normAutofit/>
          </a:bodyPr>
          <a:lstStyle/>
          <a:p>
            <a:r>
              <a:rPr lang="en-US" sz="2800" dirty="0"/>
              <a:t>Independent hardware module</a:t>
            </a:r>
          </a:p>
          <a:p>
            <a:r>
              <a:rPr lang="en-US" sz="2800" dirty="0"/>
              <a:t>Internal counter increments every clock cycle</a:t>
            </a:r>
          </a:p>
          <a:p>
            <a:r>
              <a:rPr lang="en-US" sz="2800" dirty="0"/>
              <a:t>Feed signal resets counter during normal execution</a:t>
            </a:r>
          </a:p>
          <a:p>
            <a:r>
              <a:rPr lang="en-US" sz="2800" dirty="0"/>
              <a:t>Timeout triggers </a:t>
            </a:r>
            <a:r>
              <a:rPr lang="en-US" sz="2800" b="1" dirty="0"/>
              <a:t>Watchdog Interrupt (WDT_IRQ)</a:t>
            </a:r>
            <a:endParaRPr lang="en-US" sz="2800" dirty="0"/>
          </a:p>
          <a:p>
            <a:r>
              <a:rPr lang="en-US" sz="2800" dirty="0"/>
              <a:t>Extended timeout triggers </a:t>
            </a:r>
            <a:r>
              <a:rPr lang="en-US" sz="2800" b="1" dirty="0"/>
              <a:t>Watchdog Reset (WDT_RST)</a:t>
            </a:r>
            <a:endParaRPr lang="en-US" sz="2800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BA218FBC-B2D6-48CA-9289-C4110162ED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401725" y="6229681"/>
            <a:ext cx="457200" cy="457200"/>
          </a:xfrm>
          <a:prstGeom prst="ellipse">
            <a:avLst/>
          </a:prstGeom>
          <a:blipFill dpi="0" rotWithShape="1">
            <a:blip r:embed="rId4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50800" ty="0" sx="85000" sy="85000" flip="none" algn="tl"/>
          </a:blipFill>
          <a:ln w="25400" cap="flat" cmpd="sng" algn="ctr">
            <a:noFill/>
            <a:prstDash val="soli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ckwell Extra Bold" pitchFamily="18" charset="0"/>
              <a:ea typeface="+mn-ea"/>
              <a:cs typeface="+mn-cs"/>
            </a:endParaRP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2DED9084-49DA-4911-ACB7-5F9E4DEFA0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430918" y="6258874"/>
            <a:ext cx="398813" cy="398815"/>
          </a:xfrm>
          <a:prstGeom prst="ellipse">
            <a:avLst/>
          </a:prstGeom>
          <a:noFill/>
          <a:ln w="12700" cap="flat" cmpd="sng" algn="ctr">
            <a:solidFill>
              <a:srgbClr val="FFFFFF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863B81-3276-5813-E706-2BA8B7E488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11128" y="6272784"/>
            <a:ext cx="64008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1EE665CF-97B6-4B1A-B737-E4A19F350209}" type="slidenum">
              <a:rPr lang="en-US"/>
              <a:pPr>
                <a:spcAft>
                  <a:spcPts val="600"/>
                </a:spcAft>
              </a:pPr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03691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8F15B1-0548-6E6F-FC9F-0D8EFE6313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820" y="220091"/>
            <a:ext cx="12064180" cy="1609344"/>
          </a:xfrm>
        </p:spPr>
        <p:txBody>
          <a:bodyPr/>
          <a:lstStyle/>
          <a:p>
            <a:r>
              <a:rPr lang="en-US" dirty="0"/>
              <a:t>Pipeline Integration &amp; Watchdog Signal 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3D6F04-BF6B-5CDC-8241-FDDCB7A536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1373" y="1698586"/>
            <a:ext cx="11197074" cy="411227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600" b="1" dirty="0"/>
              <a:t>Pipeline Integration</a:t>
            </a:r>
            <a:endParaRPr lang="en-US" sz="2600" dirty="0"/>
          </a:p>
          <a:p>
            <a:r>
              <a:rPr lang="en-US" sz="2600" dirty="0"/>
              <a:t>No interference with normal pipeline instruction flow</a:t>
            </a:r>
          </a:p>
          <a:p>
            <a:r>
              <a:rPr lang="en-US" sz="2600" dirty="0"/>
              <a:t>Reset safely clears pipeline registers</a:t>
            </a:r>
          </a:p>
          <a:p>
            <a:r>
              <a:rPr lang="en-US" sz="2600" dirty="0"/>
              <a:t>Interrupt provides early fault warning to processor</a:t>
            </a:r>
          </a:p>
          <a:p>
            <a:pPr marL="0" indent="0">
              <a:buNone/>
            </a:pPr>
            <a:endParaRPr lang="en-US" sz="2600" dirty="0"/>
          </a:p>
          <a:p>
            <a:pPr marL="0" indent="0">
              <a:buNone/>
            </a:pPr>
            <a:r>
              <a:rPr lang="en-US" sz="2600" b="1" dirty="0"/>
              <a:t>Control &amp; Signal Flow</a:t>
            </a:r>
            <a:endParaRPr lang="en-US" sz="2600" dirty="0"/>
          </a:p>
          <a:p>
            <a:r>
              <a:rPr lang="en-US" sz="2600" dirty="0"/>
              <a:t>Watchdog feed from processor during normal execution</a:t>
            </a:r>
          </a:p>
          <a:p>
            <a:r>
              <a:rPr lang="en-US" sz="2600" dirty="0"/>
              <a:t>Outputs: </a:t>
            </a:r>
            <a:r>
              <a:rPr lang="en-US" sz="2600" b="1" dirty="0"/>
              <a:t>WDT_IRQ</a:t>
            </a:r>
            <a:r>
              <a:rPr lang="en-US" sz="2600" dirty="0"/>
              <a:t>, </a:t>
            </a:r>
            <a:r>
              <a:rPr lang="en-US" sz="2600" b="1" dirty="0"/>
              <a:t>WDT_RST</a:t>
            </a:r>
            <a:endParaRPr lang="en-US" sz="2600" dirty="0"/>
          </a:p>
          <a:p>
            <a:r>
              <a:rPr lang="en-US" sz="2600" dirty="0"/>
              <a:t>Reset signal integrated with pipeline and PC registers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7786F7-1610-6BCD-6039-E1C03F236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665CF-97B6-4B1A-B737-E4A19F350209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47314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A20175-CC32-915A-19F8-00D62CCDA4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3B9BA6-DF06-381D-3E13-C99F39FB20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820" y="220091"/>
            <a:ext cx="12064180" cy="1609344"/>
          </a:xfrm>
        </p:spPr>
        <p:txBody>
          <a:bodyPr/>
          <a:lstStyle/>
          <a:p>
            <a:r>
              <a:rPr lang="en-US" dirty="0"/>
              <a:t>Microarchitectural diagram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01E2B3-DD93-FEC7-3ED4-D2F586D535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665CF-97B6-4B1A-B737-E4A19F350209}" type="slidenum">
              <a:rPr lang="en-US" smtClean="0"/>
              <a:t>7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0FDE24F-01EE-457F-048E-44A681A36C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6959" y="1406543"/>
            <a:ext cx="10571815" cy="52891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45362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91F5E7B-2149-4655-1855-46A7B5C7B1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5118BA95-03E7-41B7-B442-0AF8C0A7FF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3048" y="0"/>
            <a:ext cx="12188952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BFEAD8E-BD9F-0D10-74BD-EC673081AF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39624" y="512300"/>
            <a:ext cx="5188624" cy="1831344"/>
          </a:xfrm>
        </p:spPr>
        <p:txBody>
          <a:bodyPr>
            <a:normAutofit/>
          </a:bodyPr>
          <a:lstStyle/>
          <a:p>
            <a:r>
              <a:rPr lang="en-US" sz="4800" dirty="0"/>
              <a:t>Testbench And Verification </a:t>
            </a: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271EEDE1-4FF3-4A74-BD95-6852CD023B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59391" y="1673352"/>
            <a:ext cx="3502152" cy="3502152"/>
          </a:xfrm>
          <a:custGeom>
            <a:avLst/>
            <a:gdLst>
              <a:gd name="connsiteX0" fmla="*/ 1751076 w 3502152"/>
              <a:gd name="connsiteY0" fmla="*/ 228600 h 3502152"/>
              <a:gd name="connsiteX1" fmla="*/ 228600 w 3502152"/>
              <a:gd name="connsiteY1" fmla="*/ 1751076 h 3502152"/>
              <a:gd name="connsiteX2" fmla="*/ 1751076 w 3502152"/>
              <a:gd name="connsiteY2" fmla="*/ 3273552 h 3502152"/>
              <a:gd name="connsiteX3" fmla="*/ 3273552 w 3502152"/>
              <a:gd name="connsiteY3" fmla="*/ 1751076 h 3502152"/>
              <a:gd name="connsiteX4" fmla="*/ 1751076 w 3502152"/>
              <a:gd name="connsiteY4" fmla="*/ 228600 h 3502152"/>
              <a:gd name="connsiteX5" fmla="*/ 1751076 w 3502152"/>
              <a:gd name="connsiteY5" fmla="*/ 0 h 3502152"/>
              <a:gd name="connsiteX6" fmla="*/ 3502152 w 3502152"/>
              <a:gd name="connsiteY6" fmla="*/ 1751076 h 3502152"/>
              <a:gd name="connsiteX7" fmla="*/ 1751076 w 3502152"/>
              <a:gd name="connsiteY7" fmla="*/ 3502152 h 3502152"/>
              <a:gd name="connsiteX8" fmla="*/ 0 w 3502152"/>
              <a:gd name="connsiteY8" fmla="*/ 1751076 h 3502152"/>
              <a:gd name="connsiteX9" fmla="*/ 1751076 w 3502152"/>
              <a:gd name="connsiteY9" fmla="*/ 0 h 3502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502152" h="3502152">
                <a:moveTo>
                  <a:pt x="1751076" y="228600"/>
                </a:moveTo>
                <a:cubicBezTo>
                  <a:pt x="910236" y="228600"/>
                  <a:pt x="228600" y="910236"/>
                  <a:pt x="228600" y="1751076"/>
                </a:cubicBezTo>
                <a:cubicBezTo>
                  <a:pt x="228600" y="2591916"/>
                  <a:pt x="910236" y="3273552"/>
                  <a:pt x="1751076" y="3273552"/>
                </a:cubicBezTo>
                <a:cubicBezTo>
                  <a:pt x="2591916" y="3273552"/>
                  <a:pt x="3273552" y="2591916"/>
                  <a:pt x="3273552" y="1751076"/>
                </a:cubicBezTo>
                <a:cubicBezTo>
                  <a:pt x="3273552" y="910236"/>
                  <a:pt x="2591916" y="228600"/>
                  <a:pt x="1751076" y="228600"/>
                </a:cubicBezTo>
                <a:close/>
                <a:moveTo>
                  <a:pt x="1751076" y="0"/>
                </a:moveTo>
                <a:cubicBezTo>
                  <a:pt x="2718169" y="0"/>
                  <a:pt x="3502152" y="783983"/>
                  <a:pt x="3502152" y="1751076"/>
                </a:cubicBezTo>
                <a:cubicBezTo>
                  <a:pt x="3502152" y="2718169"/>
                  <a:pt x="2718169" y="3502152"/>
                  <a:pt x="1751076" y="3502152"/>
                </a:cubicBezTo>
                <a:cubicBezTo>
                  <a:pt x="783983" y="3502152"/>
                  <a:pt x="0" y="2718169"/>
                  <a:pt x="0" y="1751076"/>
                </a:cubicBezTo>
                <a:cubicBezTo>
                  <a:pt x="0" y="783983"/>
                  <a:pt x="783983" y="0"/>
                  <a:pt x="1751076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7" name="Graphic 6" descr="Laptop Secure">
            <a:extLst>
              <a:ext uri="{FF2B5EF4-FFF2-40B4-BE49-F238E27FC236}">
                <a16:creationId xmlns:a16="http://schemas.microsoft.com/office/drawing/2014/main" id="{9ADC7BD1-AB3F-22FE-A7B3-AF53682E07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896067" y="2510028"/>
            <a:ext cx="1828800" cy="1828800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AD9B3EAD-A2B3-42C4-927C-3455E3E69E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502277" y="3388659"/>
            <a:ext cx="3657600" cy="80683"/>
          </a:xfrm>
          <a:prstGeom prst="rect">
            <a:avLst/>
          </a:prstGeom>
          <a:blipFill dpi="0" rotWithShape="1">
            <a:blip r:embed="rId4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ECEB57-DFFF-7B0D-3415-C9382BA693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39624" y="2343644"/>
            <a:ext cx="5188624" cy="3142753"/>
          </a:xfrm>
        </p:spPr>
        <p:txBody>
          <a:bodyPr>
            <a:normAutofit fontScale="25000" lnSpcReduction="20000"/>
          </a:bodyPr>
          <a:lstStyle/>
          <a:p>
            <a:r>
              <a:rPr lang="en-US" sz="11200" dirty="0"/>
              <a:t>Custom RTL testbench for pipeline + watchdog</a:t>
            </a:r>
          </a:p>
          <a:p>
            <a:r>
              <a:rPr lang="en-US" sz="11200" dirty="0"/>
              <a:t>Cycle-by-cycle monitoring of all pipeline stages</a:t>
            </a:r>
          </a:p>
          <a:p>
            <a:r>
              <a:rPr lang="en-US" sz="11200" dirty="0"/>
              <a:t>Logs watchdog events: </a:t>
            </a:r>
            <a:r>
              <a:rPr lang="en-US" sz="11200" b="1" dirty="0"/>
              <a:t>WDT_IRQ</a:t>
            </a:r>
            <a:r>
              <a:rPr lang="en-US" sz="11200" dirty="0"/>
              <a:t> &amp; </a:t>
            </a:r>
            <a:r>
              <a:rPr lang="en-US" sz="11200" b="1" dirty="0"/>
              <a:t>WDT_RST</a:t>
            </a:r>
            <a:endParaRPr lang="en-US" sz="11200" dirty="0"/>
          </a:p>
          <a:p>
            <a:r>
              <a:rPr lang="en-US" sz="11200" dirty="0"/>
              <a:t>Detects software hangs and timeouts</a:t>
            </a:r>
          </a:p>
          <a:p>
            <a:r>
              <a:rPr lang="en-US" sz="11200" dirty="0"/>
              <a:t>Verifies correct pipeline operation under reset</a:t>
            </a:r>
          </a:p>
          <a:p>
            <a:pPr marL="0" indent="0">
              <a:buNone/>
            </a:pPr>
            <a:endParaRPr lang="en-US" sz="1900" dirty="0"/>
          </a:p>
          <a:p>
            <a:pPr marL="0" indent="0">
              <a:buNone/>
            </a:pPr>
            <a:endParaRPr lang="en-US" sz="1900" dirty="0"/>
          </a:p>
          <a:p>
            <a:pPr marL="0" indent="0">
              <a:buNone/>
            </a:pPr>
            <a:endParaRPr lang="en-US" sz="1900" dirty="0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7381F52A-25D7-415C-8E15-66BFB3F7B3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F31CC467-05B2-44CA-A28C-2018F5094C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6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7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DF3A2CCB-9C68-497B-AFC1-78E9931528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5A2EEE-8EE9-F4DE-8D79-58BC49634C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11128" y="6272784"/>
            <a:ext cx="64008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1EE665CF-97B6-4B1A-B737-E4A19F350209}" type="slidenum">
              <a:rPr lang="en-US" smtClean="0"/>
              <a:pPr>
                <a:spcAft>
                  <a:spcPts val="600"/>
                </a:spcAft>
              </a:pPr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20518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A2B2DF-C54B-6C06-FE15-1F4132F3CB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Simulation RESULTS WDT-1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3B786DA-CFDA-FE3E-8798-CA8CADC759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665CF-97B6-4B1A-B737-E4A19F350209}" type="slidenum">
              <a:rPr lang="en-US" smtClean="0"/>
              <a:t>9</a:t>
            </a:fld>
            <a:endParaRPr lang="en-US"/>
          </a:p>
        </p:txBody>
      </p:sp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CDE14B3-B6C0-A59C-1555-FD29F8BC2F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751" y="1907985"/>
            <a:ext cx="9897173" cy="44653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43615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5462E7-C8C9-937A-372B-2F8A7B6097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2189C1-38AB-6225-C5F6-B669A4F50C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Simulation RESULTS WDT-0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D61C8EB-B06C-B359-E3F3-BCCA99CDB3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665CF-97B6-4B1A-B737-E4A19F350209}" type="slidenum">
              <a:rPr lang="en-US" smtClean="0"/>
              <a:t>10</a:t>
            </a:fld>
            <a:endParaRPr lang="en-US"/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9EF7F73-9433-DF41-1528-9CD548B888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752" y="1800698"/>
            <a:ext cx="9944674" cy="45726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68434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C41457-993E-EEAA-33CF-C5391FE38C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0144D1-E6F4-E5E3-A196-6A99254491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466" y="397072"/>
            <a:ext cx="12064180" cy="1609344"/>
          </a:xfrm>
        </p:spPr>
        <p:txBody>
          <a:bodyPr/>
          <a:lstStyle/>
          <a:p>
            <a:r>
              <a:rPr lang="en-US"/>
              <a:t>Enhancing RV32I Reliability: Key Takeaways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6074C5-1283-2D85-543B-F18BCA8E7C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665CF-97B6-4B1A-B737-E4A19F350209}" type="slidenum">
              <a:rPr lang="en-US" smtClean="0"/>
              <a:t>11</a:t>
            </a:fld>
            <a:endParaRPr lang="en-US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729D30A8-5415-36DF-4CFF-4DB5AE5E0457}"/>
              </a:ext>
            </a:extLst>
          </p:cNvPr>
          <p:cNvSpPr txBox="1">
            <a:spLocks/>
          </p:cNvSpPr>
          <p:nvPr/>
        </p:nvSpPr>
        <p:spPr>
          <a:xfrm>
            <a:off x="417869" y="2139954"/>
            <a:ext cx="9906001" cy="471804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itchFamily="2" charset="2"/>
              <a:buNone/>
            </a:pPr>
            <a:endParaRPr lang="en-US" sz="2800" dirty="0"/>
          </a:p>
          <a:p>
            <a:pPr lvl="1"/>
            <a:r>
              <a:rPr lang="en-US" sz="2800" dirty="0"/>
              <a:t>Watchdog successfully integrated with RV32I Pipeline</a:t>
            </a:r>
          </a:p>
          <a:p>
            <a:pPr lvl="1"/>
            <a:r>
              <a:rPr lang="en-US" sz="2800" dirty="0"/>
              <a:t>Early Fault Detection Via Interrupt </a:t>
            </a:r>
          </a:p>
          <a:p>
            <a:pPr lvl="1"/>
            <a:r>
              <a:rPr lang="en-US" sz="2800" dirty="0"/>
              <a:t>Safe Processor Recovery using Watchdog Reset</a:t>
            </a:r>
          </a:p>
          <a:p>
            <a:pPr lvl="1"/>
            <a:r>
              <a:rPr lang="en-US" sz="2800" dirty="0"/>
              <a:t>Improve Processor Reliability and Fault Tolerance </a:t>
            </a:r>
          </a:p>
          <a:p>
            <a:pPr lvl="1"/>
            <a:r>
              <a:rPr lang="en-US" sz="2800" dirty="0"/>
              <a:t>Verified through RTL Simulation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01531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FA7C78-3504-80CB-C64B-746DA1AF04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81150" y="2462287"/>
            <a:ext cx="10058400" cy="1609344"/>
          </a:xfrm>
        </p:spPr>
        <p:txBody>
          <a:bodyPr>
            <a:normAutofit/>
          </a:bodyPr>
          <a:lstStyle/>
          <a:p>
            <a:r>
              <a:rPr lang="en-US" sz="8400" dirty="0"/>
              <a:t>THANK YOU!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4F31F10-9AC8-B1F5-5692-15FB18DDFE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665CF-97B6-4B1A-B737-E4A19F350209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390279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ood Type">
  <a:themeElements>
    <a:clrScheme name="Wood Type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Wood Type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TM03090434[[fn=Wood Type]]</Template>
  <TotalTime>371</TotalTime>
  <Words>319</Words>
  <Application>Microsoft Office PowerPoint</Application>
  <PresentationFormat>Widescreen</PresentationFormat>
  <Paragraphs>71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Aptos</vt:lpstr>
      <vt:lpstr>Calibri</vt:lpstr>
      <vt:lpstr>Rockwell</vt:lpstr>
      <vt:lpstr>Rockwell Condensed</vt:lpstr>
      <vt:lpstr>Rockwell Extra Bold</vt:lpstr>
      <vt:lpstr>Wingdings</vt:lpstr>
      <vt:lpstr>Wood Type</vt:lpstr>
      <vt:lpstr>Design and Verification of a Watchdog Timer Extension for RV32I Processor</vt:lpstr>
      <vt:lpstr>Motivation </vt:lpstr>
      <vt:lpstr>Project Objectives </vt:lpstr>
      <vt:lpstr>RV32I Overview &amp; System Architecture </vt:lpstr>
      <vt:lpstr>Watchdog Timer Design and Operation</vt:lpstr>
      <vt:lpstr>Pipeline Integration &amp; Watchdog Signal Flow</vt:lpstr>
      <vt:lpstr>Microarchitectural diagram </vt:lpstr>
      <vt:lpstr>Testbench And Verification </vt:lpstr>
      <vt:lpstr>Simulation RESULTS WDT-1</vt:lpstr>
      <vt:lpstr>Simulation RESULTS WDT-0</vt:lpstr>
      <vt:lpstr>Enhancing RV32I Reliability: Key Takeaways</vt:lpstr>
      <vt:lpstr>THANK YOU!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Mushaf Raza</dc:creator>
  <cp:lastModifiedBy>Mushaf Raza</cp:lastModifiedBy>
  <cp:revision>3</cp:revision>
  <dcterms:created xsi:type="dcterms:W3CDTF">2025-12-21T18:16:29Z</dcterms:created>
  <dcterms:modified xsi:type="dcterms:W3CDTF">2025-12-24T09:58:16Z</dcterms:modified>
</cp:coreProperties>
</file>